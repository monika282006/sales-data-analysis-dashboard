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796" autoAdjust="0"/>
  </p:normalViewPr>
  <p:slideViewPr>
    <p:cSldViewPr snapToGrid="0">
      <p:cViewPr varScale="1">
        <p:scale>
          <a:sx n="54" d="100"/>
          <a:sy n="54" d="100"/>
        </p:scale>
        <p:origin x="114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3041582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1880280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4263116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879A46-636F-4326-90EE-3FCFED2A90C8}" type="datetimeFigureOut">
              <a:rPr lang="en-IN" smtClean="0"/>
              <a:t>14-08-2026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547903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879A46-636F-4326-90EE-3FCFED2A90C8}" type="datetimeFigureOut">
              <a:rPr lang="en-IN" smtClean="0"/>
              <a:t>14-08-2026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843876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879A46-636F-4326-90EE-3FCFED2A90C8}" type="datetimeFigureOut">
              <a:rPr lang="en-IN" smtClean="0"/>
              <a:t>14-08-2026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2219293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879A46-636F-4326-90EE-3FCFED2A90C8}" type="datetimeFigureOut">
              <a:rPr lang="en-IN" smtClean="0"/>
              <a:t>14-08-2026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4013659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879A46-636F-4326-90EE-3FCFED2A90C8}" type="datetimeFigureOut">
              <a:rPr lang="en-IN" smtClean="0"/>
              <a:t>14-08-2026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1411647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91879A46-636F-4326-90EE-3FCFED2A90C8}" type="datetimeFigureOut">
              <a:rPr lang="en-IN" smtClean="0"/>
              <a:t>14-08-2026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3811584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879A46-636F-4326-90EE-3FCFED2A90C8}" type="datetimeFigureOut">
              <a:rPr lang="en-IN" smtClean="0"/>
              <a:t>14-08-2026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4003869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1681337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928193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2268080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10439338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28954774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1581518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879A46-636F-4326-90EE-3FCFED2A90C8}"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65E962-D7D7-46DF-9D5A-D7A8B71BAA83}" type="slidenum">
              <a:rPr lang="en-IN" smtClean="0"/>
              <a:t>‹#›</a:t>
            </a:fld>
            <a:endParaRPr lang="en-IN"/>
          </a:p>
        </p:txBody>
      </p:sp>
    </p:spTree>
    <p:extLst>
      <p:ext uri="{BB962C8B-B14F-4D97-AF65-F5344CB8AC3E}">
        <p14:creationId xmlns:p14="http://schemas.microsoft.com/office/powerpoint/2010/main" val="1653168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91879A46-636F-4326-90EE-3FCFED2A90C8}" type="datetimeFigureOut">
              <a:rPr lang="en-IN" smtClean="0"/>
              <a:t>14-08-2026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6D65E962-D7D7-46DF-9D5A-D7A8B71BAA83}" type="slidenum">
              <a:rPr lang="en-IN" smtClean="0"/>
              <a:t>‹#›</a:t>
            </a:fld>
            <a:endParaRPr lang="en-IN"/>
          </a:p>
        </p:txBody>
      </p:sp>
    </p:spTree>
    <p:extLst>
      <p:ext uri="{BB962C8B-B14F-4D97-AF65-F5344CB8AC3E}">
        <p14:creationId xmlns:p14="http://schemas.microsoft.com/office/powerpoint/2010/main" val="402792972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25C396F-523D-599D-A02F-B3F1BD38F681}"/>
              </a:ext>
            </a:extLst>
          </p:cNvPr>
          <p:cNvSpPr txBox="1"/>
          <p:nvPr/>
        </p:nvSpPr>
        <p:spPr>
          <a:xfrm>
            <a:off x="2597233" y="753483"/>
            <a:ext cx="7163789"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TASK 3: INTERACTIVE SALES DASHBOARD DESIGN</a:t>
            </a:r>
          </a:p>
        </p:txBody>
      </p:sp>
      <p:sp>
        <p:nvSpPr>
          <p:cNvPr id="10" name="TextBox 9">
            <a:extLst>
              <a:ext uri="{FF2B5EF4-FFF2-40B4-BE49-F238E27FC236}">
                <a16:creationId xmlns:a16="http://schemas.microsoft.com/office/drawing/2014/main" id="{7950984D-20BD-07FE-019D-589B4129B069}"/>
              </a:ext>
            </a:extLst>
          </p:cNvPr>
          <p:cNvSpPr txBox="1"/>
          <p:nvPr/>
        </p:nvSpPr>
        <p:spPr>
          <a:xfrm>
            <a:off x="3047010" y="2040163"/>
            <a:ext cx="6097978" cy="212769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INTERNSHIP:  </a:t>
            </a:r>
            <a:r>
              <a:rPr lang="en-IN" dirty="0">
                <a:latin typeface="Times New Roman" panose="02020603050405020304" pitchFamily="18" charset="0"/>
                <a:cs typeface="Times New Roman" panose="02020603050405020304" pitchFamily="18" charset="0"/>
              </a:rPr>
              <a:t>Data Analytics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TOOL USED: </a:t>
            </a:r>
            <a:r>
              <a:rPr lang="en-IN" dirty="0">
                <a:latin typeface="Times New Roman" panose="02020603050405020304" pitchFamily="18" charset="0"/>
                <a:cs typeface="Times New Roman" panose="02020603050405020304" pitchFamily="18" charset="0"/>
              </a:rPr>
              <a:t>Microsoft Power BI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DATASET: </a:t>
            </a:r>
            <a:r>
              <a:rPr lang="en-IN" dirty="0">
                <a:latin typeface="Times New Roman" panose="02020603050405020304" pitchFamily="18" charset="0"/>
                <a:cs typeface="Times New Roman" panose="02020603050405020304" pitchFamily="18" charset="0"/>
              </a:rPr>
              <a:t>Sales Data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SUBMITTED BY: </a:t>
            </a:r>
            <a:r>
              <a:rPr lang="en-IN" dirty="0"/>
              <a:t>Monika V</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DATE: </a:t>
            </a:r>
            <a:r>
              <a:rPr lang="en-IN" dirty="0"/>
              <a:t>14 August 2026</a:t>
            </a:r>
          </a:p>
        </p:txBody>
      </p:sp>
    </p:spTree>
    <p:extLst>
      <p:ext uri="{BB962C8B-B14F-4D97-AF65-F5344CB8AC3E}">
        <p14:creationId xmlns:p14="http://schemas.microsoft.com/office/powerpoint/2010/main" val="3966654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15311-F598-7C46-A9D1-B3DA691C927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4200F3-EA9D-47F0-E948-86F48214871F}"/>
              </a:ext>
            </a:extLst>
          </p:cNvPr>
          <p:cNvSpPr txBox="1"/>
          <p:nvPr/>
        </p:nvSpPr>
        <p:spPr>
          <a:xfrm>
            <a:off x="966729" y="620701"/>
            <a:ext cx="7631005"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OBJECTIVE</a:t>
            </a:r>
          </a:p>
        </p:txBody>
      </p:sp>
      <p:sp>
        <p:nvSpPr>
          <p:cNvPr id="9" name="TextBox 8">
            <a:extLst>
              <a:ext uri="{FF2B5EF4-FFF2-40B4-BE49-F238E27FC236}">
                <a16:creationId xmlns:a16="http://schemas.microsoft.com/office/drawing/2014/main" id="{9335CA45-F792-ED30-98B5-97B17E219218}"/>
              </a:ext>
            </a:extLst>
          </p:cNvPr>
          <p:cNvSpPr txBox="1"/>
          <p:nvPr/>
        </p:nvSpPr>
        <p:spPr>
          <a:xfrm>
            <a:off x="1277957" y="1134739"/>
            <a:ext cx="10003315" cy="78675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objective of this task was to develop an interactive sales dashboard using Microsoft Power BI to transform raw sales data into meaningful and easily understandable business information.</a:t>
            </a:r>
          </a:p>
        </p:txBody>
      </p:sp>
      <p:sp>
        <p:nvSpPr>
          <p:cNvPr id="11" name="TextBox 10">
            <a:extLst>
              <a:ext uri="{FF2B5EF4-FFF2-40B4-BE49-F238E27FC236}">
                <a16:creationId xmlns:a16="http://schemas.microsoft.com/office/drawing/2014/main" id="{7ADBFD82-0535-6346-E246-1A719861EF07}"/>
              </a:ext>
            </a:extLst>
          </p:cNvPr>
          <p:cNvSpPr txBox="1"/>
          <p:nvPr/>
        </p:nvSpPr>
        <p:spPr>
          <a:xfrm>
            <a:off x="1101686" y="2126254"/>
            <a:ext cx="8045067"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KEY OBJECTIVES</a:t>
            </a:r>
            <a:r>
              <a:rPr lang="en-IN" b="1" dirty="0"/>
              <a:t>:</a:t>
            </a:r>
          </a:p>
        </p:txBody>
      </p:sp>
      <p:sp>
        <p:nvSpPr>
          <p:cNvPr id="15" name="TextBox 14">
            <a:extLst>
              <a:ext uri="{FF2B5EF4-FFF2-40B4-BE49-F238E27FC236}">
                <a16:creationId xmlns:a16="http://schemas.microsoft.com/office/drawing/2014/main" id="{9A3A8EA8-20A2-8733-7DAE-BA66D58905DD}"/>
              </a:ext>
            </a:extLst>
          </p:cNvPr>
          <p:cNvSpPr txBox="1"/>
          <p:nvPr/>
        </p:nvSpPr>
        <p:spPr>
          <a:xfrm>
            <a:off x="1674564" y="2549789"/>
            <a:ext cx="7472190" cy="2640210"/>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Create an interactive and user-friendly dashboard.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Display important sales KPIs.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Analyze sales performance across different categories.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Analyze regional and sales representative performance.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Understand sales distribution across different sales channels.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Analyze transaction patterns based on payment methods.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Enable interactive filtering using slicers.</a:t>
            </a:r>
            <a:endParaRPr lang="en-IN" dirty="0"/>
          </a:p>
        </p:txBody>
      </p:sp>
    </p:spTree>
    <p:extLst>
      <p:ext uri="{BB962C8B-B14F-4D97-AF65-F5344CB8AC3E}">
        <p14:creationId xmlns:p14="http://schemas.microsoft.com/office/powerpoint/2010/main" val="1020867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C3318-C9C0-F0EB-8A42-2AD7E6CEF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0EF6DA-D631-0903-C621-7161666B9A51}"/>
              </a:ext>
            </a:extLst>
          </p:cNvPr>
          <p:cNvSpPr txBox="1"/>
          <p:nvPr/>
        </p:nvSpPr>
        <p:spPr>
          <a:xfrm>
            <a:off x="683046" y="330506"/>
            <a:ext cx="8463708" cy="400110"/>
          </a:xfrm>
          <a:prstGeom prst="rect">
            <a:avLst/>
          </a:prstGeom>
          <a:noFill/>
        </p:spPr>
        <p:txBody>
          <a:bodyPr wrap="square">
            <a:spAutoFit/>
          </a:bodyPr>
          <a:lstStyle/>
          <a:p>
            <a:pPr algn="ctr"/>
            <a:r>
              <a:rPr lang="en-IN" sz="2000" b="1">
                <a:latin typeface="Times New Roman" panose="02020603050405020304" pitchFamily="18" charset="0"/>
                <a:cs typeface="Times New Roman" panose="02020603050405020304" pitchFamily="18" charset="0"/>
              </a:rPr>
              <a:t>DATASET OVERVIEW</a:t>
            </a:r>
            <a:endParaRPr lang="en-IN"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6592FFB-C1A6-F339-04A0-06B7498820A8}"/>
              </a:ext>
            </a:extLst>
          </p:cNvPr>
          <p:cNvSpPr txBox="1"/>
          <p:nvPr/>
        </p:nvSpPr>
        <p:spPr>
          <a:xfrm>
            <a:off x="771181" y="837283"/>
            <a:ext cx="8375573" cy="873572"/>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Sales Dataset</a:t>
            </a:r>
          </a:p>
          <a:p>
            <a:pPr>
              <a:lnSpc>
                <a:spcPct val="150000"/>
              </a:lnSpc>
              <a:buNone/>
            </a:pPr>
            <a:r>
              <a:rPr lang="en-IN" b="1" dirty="0">
                <a:latin typeface="Times New Roman" panose="02020603050405020304" pitchFamily="18" charset="0"/>
                <a:cs typeface="Times New Roman" panose="02020603050405020304" pitchFamily="18" charset="0"/>
              </a:rPr>
              <a:t>Dataset used:</a:t>
            </a:r>
            <a:r>
              <a:rPr lang="en-IN" dirty="0">
                <a:latin typeface="Times New Roman" panose="02020603050405020304" pitchFamily="18" charset="0"/>
                <a:cs typeface="Times New Roman" panose="02020603050405020304" pitchFamily="18" charset="0"/>
              </a:rPr>
              <a:t> Sales Data</a:t>
            </a:r>
          </a:p>
        </p:txBody>
      </p:sp>
      <p:sp>
        <p:nvSpPr>
          <p:cNvPr id="7" name="TextBox 6">
            <a:extLst>
              <a:ext uri="{FF2B5EF4-FFF2-40B4-BE49-F238E27FC236}">
                <a16:creationId xmlns:a16="http://schemas.microsoft.com/office/drawing/2014/main" id="{5A7D6256-76ED-D6BA-0102-733FB9EC66E5}"/>
              </a:ext>
            </a:extLst>
          </p:cNvPr>
          <p:cNvSpPr txBox="1"/>
          <p:nvPr/>
        </p:nvSpPr>
        <p:spPr>
          <a:xfrm>
            <a:off x="771182" y="1710855"/>
            <a:ext cx="4439796" cy="646331"/>
          </a:xfrm>
          <a:prstGeom prst="rect">
            <a:avLst/>
          </a:prstGeom>
          <a:noFill/>
        </p:spPr>
        <p:txBody>
          <a:bodyPr wrap="square">
            <a:spAutoFit/>
          </a:bodyPr>
          <a:lstStyle/>
          <a:p>
            <a:pPr marL="171450" indent="-171450">
              <a:buFont typeface="Wingdings" panose="05000000000000000000" pitchFamily="2" charset="2"/>
              <a:buChar char="Ø"/>
            </a:pPr>
            <a:r>
              <a:rPr lang="en-IN" sz="1200" dirty="0"/>
              <a:t>The dataset contains information required to analyze sales performance, transactions, customers, products and sales channels.</a:t>
            </a:r>
          </a:p>
        </p:txBody>
      </p:sp>
      <p:sp>
        <p:nvSpPr>
          <p:cNvPr id="9" name="TextBox 8">
            <a:extLst>
              <a:ext uri="{FF2B5EF4-FFF2-40B4-BE49-F238E27FC236}">
                <a16:creationId xmlns:a16="http://schemas.microsoft.com/office/drawing/2014/main" id="{5CCD6962-55C7-4D67-11E5-254A2D112BF5}"/>
              </a:ext>
            </a:extLst>
          </p:cNvPr>
          <p:cNvSpPr txBox="1"/>
          <p:nvPr/>
        </p:nvSpPr>
        <p:spPr>
          <a:xfrm>
            <a:off x="683046" y="2478795"/>
            <a:ext cx="8948451"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Important fields used in the dashboard:</a:t>
            </a:r>
          </a:p>
        </p:txBody>
      </p:sp>
      <p:sp>
        <p:nvSpPr>
          <p:cNvPr id="11" name="TextBox 10">
            <a:extLst>
              <a:ext uri="{FF2B5EF4-FFF2-40B4-BE49-F238E27FC236}">
                <a16:creationId xmlns:a16="http://schemas.microsoft.com/office/drawing/2014/main" id="{82354A25-3AEA-2BDA-7E73-FF01BDA3B48F}"/>
              </a:ext>
            </a:extLst>
          </p:cNvPr>
          <p:cNvSpPr txBox="1"/>
          <p:nvPr/>
        </p:nvSpPr>
        <p:spPr>
          <a:xfrm>
            <a:off x="1046602" y="2985571"/>
            <a:ext cx="8100152" cy="2552109"/>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Region </a:t>
            </a:r>
          </a:p>
          <a:p>
            <a:pPr marL="342900" lvl="0" indent="-34290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Product Category </a:t>
            </a:r>
          </a:p>
          <a:p>
            <a:pPr marL="342900" lvl="0" indent="-34290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Sales Channel </a:t>
            </a:r>
          </a:p>
          <a:p>
            <a:pPr marL="342900" lvl="0" indent="-34290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Customer Type </a:t>
            </a:r>
          </a:p>
          <a:p>
            <a:pPr marL="342900" lvl="0" indent="-34290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Sales </a:t>
            </a:r>
          </a:p>
          <a:p>
            <a:pPr marL="342900" lvl="0" indent="-34290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Profit </a:t>
            </a:r>
          </a:p>
          <a:p>
            <a:pPr marL="342900" lvl="0" indent="-34290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Sales Representative </a:t>
            </a:r>
          </a:p>
          <a:p>
            <a:pPr marL="342900" lvl="0" indent="-34290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Payment Method </a:t>
            </a:r>
          </a:p>
          <a:p>
            <a:pPr marL="342900" lvl="0" indent="-34290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Transaction information</a:t>
            </a:r>
          </a:p>
        </p:txBody>
      </p:sp>
      <p:pic>
        <p:nvPicPr>
          <p:cNvPr id="13" name="Picture 12">
            <a:extLst>
              <a:ext uri="{FF2B5EF4-FFF2-40B4-BE49-F238E27FC236}">
                <a16:creationId xmlns:a16="http://schemas.microsoft.com/office/drawing/2014/main" id="{FA4AEE0B-C073-BD81-FCBB-98438C896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678" y="1096178"/>
            <a:ext cx="6636827" cy="3778786"/>
          </a:xfrm>
          <a:prstGeom prst="rect">
            <a:avLst/>
          </a:prstGeom>
        </p:spPr>
      </p:pic>
    </p:spTree>
    <p:extLst>
      <p:ext uri="{BB962C8B-B14F-4D97-AF65-F5344CB8AC3E}">
        <p14:creationId xmlns:p14="http://schemas.microsoft.com/office/powerpoint/2010/main" val="3430440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3613-8EDA-467C-2CD5-2DE0796BFF0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A8359D-FC92-B1B3-12D3-EDB462A12E30}"/>
              </a:ext>
            </a:extLst>
          </p:cNvPr>
          <p:cNvSpPr txBox="1"/>
          <p:nvPr/>
        </p:nvSpPr>
        <p:spPr>
          <a:xfrm>
            <a:off x="583894" y="220337"/>
            <a:ext cx="8562860"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KPI CARDS</a:t>
            </a:r>
          </a:p>
        </p:txBody>
      </p:sp>
      <p:sp>
        <p:nvSpPr>
          <p:cNvPr id="5" name="TextBox 4">
            <a:extLst>
              <a:ext uri="{FF2B5EF4-FFF2-40B4-BE49-F238E27FC236}">
                <a16:creationId xmlns:a16="http://schemas.microsoft.com/office/drawing/2014/main" id="{F0F0109A-80A1-7A0C-7BC0-F7F0D10E1205}"/>
              </a:ext>
            </a:extLst>
          </p:cNvPr>
          <p:cNvSpPr txBox="1"/>
          <p:nvPr/>
        </p:nvSpPr>
        <p:spPr>
          <a:xfrm>
            <a:off x="914400" y="782198"/>
            <a:ext cx="8232354"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Key Performance Indicators</a:t>
            </a:r>
          </a:p>
        </p:txBody>
      </p:sp>
      <p:pic>
        <p:nvPicPr>
          <p:cNvPr id="7" name="Picture 6">
            <a:extLst>
              <a:ext uri="{FF2B5EF4-FFF2-40B4-BE49-F238E27FC236}">
                <a16:creationId xmlns:a16="http://schemas.microsoft.com/office/drawing/2014/main" id="{AF864060-0A4E-25A3-306D-CC1AFACD46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313281"/>
            <a:ext cx="10658906" cy="1242530"/>
          </a:xfrm>
          <a:prstGeom prst="rect">
            <a:avLst/>
          </a:prstGeom>
        </p:spPr>
      </p:pic>
      <p:graphicFrame>
        <p:nvGraphicFramePr>
          <p:cNvPr id="8" name="Table 7">
            <a:extLst>
              <a:ext uri="{FF2B5EF4-FFF2-40B4-BE49-F238E27FC236}">
                <a16:creationId xmlns:a16="http://schemas.microsoft.com/office/drawing/2014/main" id="{D9FFE169-FEDC-7176-2B9C-A66EEA0A1B57}"/>
              </a:ext>
            </a:extLst>
          </p:cNvPr>
          <p:cNvGraphicFramePr>
            <a:graphicFrameLocks noGrp="1"/>
          </p:cNvGraphicFramePr>
          <p:nvPr>
            <p:extLst>
              <p:ext uri="{D42A27DB-BD31-4B8C-83A1-F6EECF244321}">
                <p14:modId xmlns:p14="http://schemas.microsoft.com/office/powerpoint/2010/main" val="1710288903"/>
              </p:ext>
            </p:extLst>
          </p:nvPr>
        </p:nvGraphicFramePr>
        <p:xfrm>
          <a:off x="838200" y="3086894"/>
          <a:ext cx="10515600" cy="182880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499681567"/>
                    </a:ext>
                  </a:extLst>
                </a:gridCol>
                <a:gridCol w="5257800">
                  <a:extLst>
                    <a:ext uri="{9D8B030D-6E8A-4147-A177-3AD203B41FA5}">
                      <a16:colId xmlns:a16="http://schemas.microsoft.com/office/drawing/2014/main" val="4254875873"/>
                    </a:ext>
                  </a:extLst>
                </a:gridCol>
              </a:tblGrid>
              <a:tr h="0">
                <a:tc>
                  <a:txBody>
                    <a:bodyPr/>
                    <a:lstStyle/>
                    <a:p>
                      <a:pPr>
                        <a:buNone/>
                      </a:pPr>
                      <a:r>
                        <a:rPr lang="en-IN" b="1" dirty="0">
                          <a:latin typeface="Times New Roman" panose="02020603050405020304" pitchFamily="18" charset="0"/>
                          <a:cs typeface="Times New Roman" panose="02020603050405020304" pitchFamily="18" charset="0"/>
                        </a:rPr>
                        <a:t>KPI</a:t>
                      </a:r>
                    </a:p>
                  </a:txBody>
                  <a:tcPr anchor="ctr"/>
                </a:tc>
                <a:tc>
                  <a:txBody>
                    <a:bodyPr/>
                    <a:lstStyle/>
                    <a:p>
                      <a:pPr>
                        <a:buNone/>
                      </a:pPr>
                      <a:r>
                        <a:rPr lang="en-IN" b="1"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246214680"/>
                  </a:ext>
                </a:extLst>
              </a:tr>
              <a:tr h="0">
                <a:tc>
                  <a:txBody>
                    <a:bodyPr/>
                    <a:lstStyle/>
                    <a:p>
                      <a:pPr>
                        <a:buNone/>
                      </a:pPr>
                      <a:r>
                        <a:rPr lang="en-IN" dirty="0">
                          <a:latin typeface="Times New Roman" panose="02020603050405020304" pitchFamily="18" charset="0"/>
                          <a:cs typeface="Times New Roman" panose="02020603050405020304" pitchFamily="18" charset="0"/>
                        </a:rPr>
                        <a:t>Total Sales</a:t>
                      </a:r>
                    </a:p>
                  </a:txBody>
                  <a:tcPr anchor="ctr"/>
                </a:tc>
                <a:tc>
                  <a:txBody>
                    <a:bodyPr/>
                    <a:lstStyle/>
                    <a:p>
                      <a:pPr>
                        <a:buNone/>
                      </a:pPr>
                      <a:r>
                        <a:rPr lang="en-IN" dirty="0">
                          <a:latin typeface="Times New Roman" panose="02020603050405020304" pitchFamily="18" charset="0"/>
                          <a:cs typeface="Times New Roman" panose="02020603050405020304" pitchFamily="18" charset="0"/>
                        </a:rPr>
                        <a:t>Measures overall sales generated</a:t>
                      </a:r>
                    </a:p>
                  </a:txBody>
                  <a:tcPr anchor="ctr"/>
                </a:tc>
                <a:extLst>
                  <a:ext uri="{0D108BD9-81ED-4DB2-BD59-A6C34878D82A}">
                    <a16:rowId xmlns:a16="http://schemas.microsoft.com/office/drawing/2014/main" val="1806877920"/>
                  </a:ext>
                </a:extLst>
              </a:tr>
              <a:tr h="0">
                <a:tc>
                  <a:txBody>
                    <a:bodyPr/>
                    <a:lstStyle/>
                    <a:p>
                      <a:pPr>
                        <a:buNone/>
                      </a:pPr>
                      <a:r>
                        <a:rPr lang="en-IN" dirty="0">
                          <a:latin typeface="Times New Roman" panose="02020603050405020304" pitchFamily="18" charset="0"/>
                          <a:cs typeface="Times New Roman" panose="02020603050405020304" pitchFamily="18" charset="0"/>
                        </a:rPr>
                        <a:t>Total Profit</a:t>
                      </a:r>
                    </a:p>
                  </a:txBody>
                  <a:tcPr anchor="ctr"/>
                </a:tc>
                <a:tc>
                  <a:txBody>
                    <a:bodyPr/>
                    <a:lstStyle/>
                    <a:p>
                      <a:pPr>
                        <a:buNone/>
                      </a:pPr>
                      <a:r>
                        <a:rPr lang="en-IN" dirty="0">
                          <a:latin typeface="Times New Roman" panose="02020603050405020304" pitchFamily="18" charset="0"/>
                          <a:cs typeface="Times New Roman" panose="02020603050405020304" pitchFamily="18" charset="0"/>
                        </a:rPr>
                        <a:t>Measures overall profit generated</a:t>
                      </a:r>
                    </a:p>
                  </a:txBody>
                  <a:tcPr anchor="ctr"/>
                </a:tc>
                <a:extLst>
                  <a:ext uri="{0D108BD9-81ED-4DB2-BD59-A6C34878D82A}">
                    <a16:rowId xmlns:a16="http://schemas.microsoft.com/office/drawing/2014/main" val="3932377435"/>
                  </a:ext>
                </a:extLst>
              </a:tr>
              <a:tr h="0">
                <a:tc>
                  <a:txBody>
                    <a:bodyPr/>
                    <a:lstStyle/>
                    <a:p>
                      <a:pPr>
                        <a:buNone/>
                      </a:pPr>
                      <a:r>
                        <a:rPr lang="en-IN" dirty="0">
                          <a:latin typeface="Times New Roman" panose="02020603050405020304" pitchFamily="18" charset="0"/>
                          <a:cs typeface="Times New Roman" panose="02020603050405020304" pitchFamily="18" charset="0"/>
                        </a:rPr>
                        <a:t>Quantity Sold</a:t>
                      </a:r>
                    </a:p>
                  </a:txBody>
                  <a:tcPr anchor="ctr"/>
                </a:tc>
                <a:tc>
                  <a:txBody>
                    <a:bodyPr/>
                    <a:lstStyle/>
                    <a:p>
                      <a:pPr>
                        <a:buNone/>
                      </a:pPr>
                      <a:r>
                        <a:rPr lang="en-IN" dirty="0">
                          <a:latin typeface="Times New Roman" panose="02020603050405020304" pitchFamily="18" charset="0"/>
                          <a:cs typeface="Times New Roman" panose="02020603050405020304" pitchFamily="18" charset="0"/>
                        </a:rPr>
                        <a:t>Shows total quantity of products sold</a:t>
                      </a:r>
                    </a:p>
                  </a:txBody>
                  <a:tcPr anchor="ctr"/>
                </a:tc>
                <a:extLst>
                  <a:ext uri="{0D108BD9-81ED-4DB2-BD59-A6C34878D82A}">
                    <a16:rowId xmlns:a16="http://schemas.microsoft.com/office/drawing/2014/main" val="3197996492"/>
                  </a:ext>
                </a:extLst>
              </a:tr>
              <a:tr h="0">
                <a:tc>
                  <a:txBody>
                    <a:bodyPr/>
                    <a:lstStyle/>
                    <a:p>
                      <a:pPr>
                        <a:buNone/>
                      </a:pPr>
                      <a:r>
                        <a:rPr lang="en-IN" dirty="0">
                          <a:latin typeface="Times New Roman" panose="02020603050405020304" pitchFamily="18" charset="0"/>
                          <a:cs typeface="Times New Roman" panose="02020603050405020304" pitchFamily="18" charset="0"/>
                        </a:rPr>
                        <a:t>Profit Margin</a:t>
                      </a:r>
                    </a:p>
                  </a:txBody>
                  <a:tcPr anchor="ctr"/>
                </a:tc>
                <a:tc>
                  <a:txBody>
                    <a:bodyPr/>
                    <a:lstStyle/>
                    <a:p>
                      <a:pPr>
                        <a:buNone/>
                      </a:pPr>
                      <a:r>
                        <a:rPr lang="en-IN" dirty="0">
                          <a:latin typeface="Times New Roman" panose="02020603050405020304" pitchFamily="18" charset="0"/>
                          <a:cs typeface="Times New Roman" panose="02020603050405020304" pitchFamily="18" charset="0"/>
                        </a:rPr>
                        <a:t>Measures profitability of sales</a:t>
                      </a:r>
                    </a:p>
                  </a:txBody>
                  <a:tcPr anchor="ctr"/>
                </a:tc>
                <a:extLst>
                  <a:ext uri="{0D108BD9-81ED-4DB2-BD59-A6C34878D82A}">
                    <a16:rowId xmlns:a16="http://schemas.microsoft.com/office/drawing/2014/main" val="1251788243"/>
                  </a:ext>
                </a:extLst>
              </a:tr>
            </a:tbl>
          </a:graphicData>
        </a:graphic>
      </p:graphicFrame>
    </p:spTree>
    <p:extLst>
      <p:ext uri="{BB962C8B-B14F-4D97-AF65-F5344CB8AC3E}">
        <p14:creationId xmlns:p14="http://schemas.microsoft.com/office/powerpoint/2010/main" val="2218369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B9A4B-CC7B-05EF-6F39-8A65537394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58A343-4CB4-C4BF-07B6-4308E4EB1617}"/>
              </a:ext>
            </a:extLst>
          </p:cNvPr>
          <p:cNvSpPr txBox="1"/>
          <p:nvPr/>
        </p:nvSpPr>
        <p:spPr>
          <a:xfrm>
            <a:off x="672029" y="407624"/>
            <a:ext cx="8926417"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SALES ANALYSIS</a:t>
            </a:r>
          </a:p>
        </p:txBody>
      </p:sp>
      <p:sp>
        <p:nvSpPr>
          <p:cNvPr id="5" name="TextBox 4">
            <a:extLst>
              <a:ext uri="{FF2B5EF4-FFF2-40B4-BE49-F238E27FC236}">
                <a16:creationId xmlns:a16="http://schemas.microsoft.com/office/drawing/2014/main" id="{C483516B-1400-AD40-D706-25CA66E41EC8}"/>
              </a:ext>
            </a:extLst>
          </p:cNvPr>
          <p:cNvSpPr txBox="1"/>
          <p:nvPr/>
        </p:nvSpPr>
        <p:spPr>
          <a:xfrm>
            <a:off x="870333" y="936434"/>
            <a:ext cx="8276421" cy="873572"/>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Sales Performance Analysis</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This section explains the sales-related visualizations.</a:t>
            </a:r>
          </a:p>
        </p:txBody>
      </p:sp>
      <p:sp>
        <p:nvSpPr>
          <p:cNvPr id="7" name="TextBox 6">
            <a:extLst>
              <a:ext uri="{FF2B5EF4-FFF2-40B4-BE49-F238E27FC236}">
                <a16:creationId xmlns:a16="http://schemas.microsoft.com/office/drawing/2014/main" id="{B46DF3D6-D0E8-B75C-257C-93E238D1C677}"/>
              </a:ext>
            </a:extLst>
          </p:cNvPr>
          <p:cNvSpPr txBox="1"/>
          <p:nvPr/>
        </p:nvSpPr>
        <p:spPr>
          <a:xfrm>
            <a:off x="539827" y="1938706"/>
            <a:ext cx="8606927" cy="369332"/>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Charts included</a:t>
            </a:r>
            <a:r>
              <a:rPr lang="en-IN" dirty="0"/>
              <a:t>:</a:t>
            </a:r>
          </a:p>
        </p:txBody>
      </p:sp>
      <p:pic>
        <p:nvPicPr>
          <p:cNvPr id="9" name="Picture 8">
            <a:extLst>
              <a:ext uri="{FF2B5EF4-FFF2-40B4-BE49-F238E27FC236}">
                <a16:creationId xmlns:a16="http://schemas.microsoft.com/office/drawing/2014/main" id="{BA90AEE8-1C89-8448-9F36-291B5E7407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827" y="2436738"/>
            <a:ext cx="3734718" cy="1554909"/>
          </a:xfrm>
          <a:prstGeom prst="rect">
            <a:avLst/>
          </a:prstGeom>
        </p:spPr>
      </p:pic>
      <p:pic>
        <p:nvPicPr>
          <p:cNvPr id="11" name="Picture 10">
            <a:extLst>
              <a:ext uri="{FF2B5EF4-FFF2-40B4-BE49-F238E27FC236}">
                <a16:creationId xmlns:a16="http://schemas.microsoft.com/office/drawing/2014/main" id="{6B8449D1-3301-4418-12D3-2BA746FF90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2319" y="135419"/>
            <a:ext cx="3694736" cy="1987954"/>
          </a:xfrm>
          <a:prstGeom prst="rect">
            <a:avLst/>
          </a:prstGeom>
        </p:spPr>
      </p:pic>
      <p:pic>
        <p:nvPicPr>
          <p:cNvPr id="13" name="Picture 12">
            <a:extLst>
              <a:ext uri="{FF2B5EF4-FFF2-40B4-BE49-F238E27FC236}">
                <a16:creationId xmlns:a16="http://schemas.microsoft.com/office/drawing/2014/main" id="{15166769-B206-BEB7-D0ED-9C0F5498AA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5191" y="4221936"/>
            <a:ext cx="2935084" cy="1929919"/>
          </a:xfrm>
          <a:prstGeom prst="rect">
            <a:avLst/>
          </a:prstGeom>
        </p:spPr>
      </p:pic>
      <p:sp>
        <p:nvSpPr>
          <p:cNvPr id="15" name="TextBox 14">
            <a:extLst>
              <a:ext uri="{FF2B5EF4-FFF2-40B4-BE49-F238E27FC236}">
                <a16:creationId xmlns:a16="http://schemas.microsoft.com/office/drawing/2014/main" id="{A96B2F1E-B174-688C-8848-14CEF503A088}"/>
              </a:ext>
            </a:extLst>
          </p:cNvPr>
          <p:cNvSpPr txBox="1"/>
          <p:nvPr/>
        </p:nvSpPr>
        <p:spPr>
          <a:xfrm>
            <a:off x="478884" y="4120347"/>
            <a:ext cx="5382089" cy="861774"/>
          </a:xfrm>
          <a:prstGeom prst="rect">
            <a:avLst/>
          </a:prstGeom>
          <a:noFill/>
        </p:spPr>
        <p:txBody>
          <a:bodyPr wrap="square">
            <a:spAutoFit/>
          </a:bodyPr>
          <a:lstStyle/>
          <a:p>
            <a:pPr lvl="0"/>
            <a:r>
              <a:rPr lang="en-IN" b="1" dirty="0"/>
              <a:t>1</a:t>
            </a:r>
            <a:r>
              <a:rPr lang="en-IN" sz="1600" b="1" dirty="0">
                <a:latin typeface="Times New Roman" panose="02020603050405020304" pitchFamily="18" charset="0"/>
                <a:cs typeface="Times New Roman" panose="02020603050405020304" pitchFamily="18" charset="0"/>
              </a:rPr>
              <a:t>. Sales by Product Category</a:t>
            </a:r>
            <a:r>
              <a:rPr lang="en-IN"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Helps identify which product categories generate higher sales. </a:t>
            </a:r>
          </a:p>
        </p:txBody>
      </p:sp>
      <p:sp>
        <p:nvSpPr>
          <p:cNvPr id="18" name="TextBox 17">
            <a:extLst>
              <a:ext uri="{FF2B5EF4-FFF2-40B4-BE49-F238E27FC236}">
                <a16:creationId xmlns:a16="http://schemas.microsoft.com/office/drawing/2014/main" id="{EA674647-C82D-F55D-27D9-002FF8AEDBDA}"/>
              </a:ext>
            </a:extLst>
          </p:cNvPr>
          <p:cNvSpPr txBox="1"/>
          <p:nvPr/>
        </p:nvSpPr>
        <p:spPr>
          <a:xfrm>
            <a:off x="7260116" y="2308038"/>
            <a:ext cx="4392057" cy="830997"/>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2. Regional Sales by Sales Representative</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Helps understand sales performance across regions and representatives.</a:t>
            </a:r>
          </a:p>
        </p:txBody>
      </p:sp>
      <p:sp>
        <p:nvSpPr>
          <p:cNvPr id="20" name="TextBox 19">
            <a:extLst>
              <a:ext uri="{FF2B5EF4-FFF2-40B4-BE49-F238E27FC236}">
                <a16:creationId xmlns:a16="http://schemas.microsoft.com/office/drawing/2014/main" id="{9F8C62C0-5324-CC3D-CAEA-6FEA0F68E4F0}"/>
              </a:ext>
            </a:extLst>
          </p:cNvPr>
          <p:cNvSpPr txBox="1"/>
          <p:nvPr/>
        </p:nvSpPr>
        <p:spPr>
          <a:xfrm flipH="1">
            <a:off x="8670275" y="4221936"/>
            <a:ext cx="3042840" cy="1077218"/>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3. Sales by Sales Channel</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Shows how sales are distributed across different sales channels.</a:t>
            </a:r>
          </a:p>
        </p:txBody>
      </p:sp>
    </p:spTree>
    <p:extLst>
      <p:ext uri="{BB962C8B-B14F-4D97-AF65-F5344CB8AC3E}">
        <p14:creationId xmlns:p14="http://schemas.microsoft.com/office/powerpoint/2010/main" val="2530451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374DF-8B34-B4E2-D052-37E534FDB0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5F64EA-B25C-55C2-F547-B49E600B2C09}"/>
              </a:ext>
            </a:extLst>
          </p:cNvPr>
          <p:cNvSpPr txBox="1"/>
          <p:nvPr/>
        </p:nvSpPr>
        <p:spPr>
          <a:xfrm>
            <a:off x="495759" y="231354"/>
            <a:ext cx="8650995"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PROFIT &amp; TRANSACTION ANALYSIS</a:t>
            </a:r>
          </a:p>
        </p:txBody>
      </p:sp>
      <p:sp>
        <p:nvSpPr>
          <p:cNvPr id="5" name="TextBox 4">
            <a:extLst>
              <a:ext uri="{FF2B5EF4-FFF2-40B4-BE49-F238E27FC236}">
                <a16:creationId xmlns:a16="http://schemas.microsoft.com/office/drawing/2014/main" id="{2B63412A-DAE6-82D7-42B6-73670D8018D3}"/>
              </a:ext>
            </a:extLst>
          </p:cNvPr>
          <p:cNvSpPr txBox="1"/>
          <p:nvPr/>
        </p:nvSpPr>
        <p:spPr>
          <a:xfrm>
            <a:off x="716097" y="815248"/>
            <a:ext cx="8650995"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Charts included:</a:t>
            </a:r>
          </a:p>
        </p:txBody>
      </p:sp>
      <p:pic>
        <p:nvPicPr>
          <p:cNvPr id="7" name="Picture 6">
            <a:extLst>
              <a:ext uri="{FF2B5EF4-FFF2-40B4-BE49-F238E27FC236}">
                <a16:creationId xmlns:a16="http://schemas.microsoft.com/office/drawing/2014/main" id="{0DBD2359-E7DD-4D16-D000-907A7B6F6C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568" y="1424182"/>
            <a:ext cx="3462294" cy="2004818"/>
          </a:xfrm>
          <a:prstGeom prst="rect">
            <a:avLst/>
          </a:prstGeom>
        </p:spPr>
      </p:pic>
      <p:sp>
        <p:nvSpPr>
          <p:cNvPr id="9" name="TextBox 8">
            <a:extLst>
              <a:ext uri="{FF2B5EF4-FFF2-40B4-BE49-F238E27FC236}">
                <a16:creationId xmlns:a16="http://schemas.microsoft.com/office/drawing/2014/main" id="{73B54061-5042-71BC-AB16-CAEAD614B3EA}"/>
              </a:ext>
            </a:extLst>
          </p:cNvPr>
          <p:cNvSpPr txBox="1"/>
          <p:nvPr/>
        </p:nvSpPr>
        <p:spPr>
          <a:xfrm>
            <a:off x="716097" y="3800818"/>
            <a:ext cx="6378767" cy="1525418"/>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 1. Profit by Sales Representative</a:t>
            </a: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Used to identify representatives contributing higher profit.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Helps understand individual sales performance from a profitability perspective.</a:t>
            </a:r>
          </a:p>
        </p:txBody>
      </p:sp>
      <p:pic>
        <p:nvPicPr>
          <p:cNvPr id="11" name="Picture 10">
            <a:extLst>
              <a:ext uri="{FF2B5EF4-FFF2-40B4-BE49-F238E27FC236}">
                <a16:creationId xmlns:a16="http://schemas.microsoft.com/office/drawing/2014/main" id="{C3982D39-7C34-57BB-FAC2-8DD9256399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3335" y="1251279"/>
            <a:ext cx="3266722" cy="2363630"/>
          </a:xfrm>
          <a:prstGeom prst="rect">
            <a:avLst/>
          </a:prstGeom>
        </p:spPr>
      </p:pic>
      <p:sp>
        <p:nvSpPr>
          <p:cNvPr id="13" name="TextBox 12">
            <a:extLst>
              <a:ext uri="{FF2B5EF4-FFF2-40B4-BE49-F238E27FC236}">
                <a16:creationId xmlns:a16="http://schemas.microsoft.com/office/drawing/2014/main" id="{24B55D41-D682-0DFB-7AC0-10BBD6F9B6E5}"/>
              </a:ext>
            </a:extLst>
          </p:cNvPr>
          <p:cNvSpPr txBox="1"/>
          <p:nvPr/>
        </p:nvSpPr>
        <p:spPr>
          <a:xfrm>
            <a:off x="7017744" y="3800819"/>
            <a:ext cx="4881331" cy="1525418"/>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2. Total Transactions by Payment Method</a:t>
            </a: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Shows the number of transactions made using different payment methods.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Helps identify commonly used payment methods.</a:t>
            </a:r>
          </a:p>
        </p:txBody>
      </p:sp>
    </p:spTree>
    <p:extLst>
      <p:ext uri="{BB962C8B-B14F-4D97-AF65-F5344CB8AC3E}">
        <p14:creationId xmlns:p14="http://schemas.microsoft.com/office/powerpoint/2010/main" val="1737037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C0260-B4A3-C58C-82ED-7A320A7192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704BB4-6FBA-930A-6E63-789E36365789}"/>
              </a:ext>
            </a:extLst>
          </p:cNvPr>
          <p:cNvSpPr txBox="1"/>
          <p:nvPr/>
        </p:nvSpPr>
        <p:spPr>
          <a:xfrm>
            <a:off x="546265" y="296883"/>
            <a:ext cx="8600703"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INTERACTIVE FILTERS</a:t>
            </a:r>
          </a:p>
        </p:txBody>
      </p:sp>
      <p:sp>
        <p:nvSpPr>
          <p:cNvPr id="5" name="TextBox 4">
            <a:extLst>
              <a:ext uri="{FF2B5EF4-FFF2-40B4-BE49-F238E27FC236}">
                <a16:creationId xmlns:a16="http://schemas.microsoft.com/office/drawing/2014/main" id="{3B40319C-B4A7-E524-94EA-64575A560274}"/>
              </a:ext>
            </a:extLst>
          </p:cNvPr>
          <p:cNvSpPr txBox="1"/>
          <p:nvPr/>
        </p:nvSpPr>
        <p:spPr>
          <a:xfrm>
            <a:off x="878774" y="819398"/>
            <a:ext cx="8268194" cy="786754"/>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Dashboard Slicers</a:t>
            </a:r>
          </a:p>
          <a:p>
            <a:pPr>
              <a:lnSpc>
                <a:spcPct val="150000"/>
              </a:lnSpc>
              <a:buNone/>
            </a:pPr>
            <a:r>
              <a:rPr lang="en-IN" sz="1600" dirty="0">
                <a:latin typeface="Times New Roman" panose="02020603050405020304" pitchFamily="18" charset="0"/>
                <a:cs typeface="Times New Roman" panose="02020603050405020304" pitchFamily="18" charset="0"/>
              </a:rPr>
              <a:t>Four interactive slicers were added to make the dashboard dynamic:</a:t>
            </a:r>
          </a:p>
        </p:txBody>
      </p:sp>
      <p:sp>
        <p:nvSpPr>
          <p:cNvPr id="7" name="TextBox 6">
            <a:extLst>
              <a:ext uri="{FF2B5EF4-FFF2-40B4-BE49-F238E27FC236}">
                <a16:creationId xmlns:a16="http://schemas.microsoft.com/office/drawing/2014/main" id="{5FFD457B-B10E-7CBC-48A3-D7D8603BE3C5}"/>
              </a:ext>
            </a:extLst>
          </p:cNvPr>
          <p:cNvSpPr txBox="1"/>
          <p:nvPr/>
        </p:nvSpPr>
        <p:spPr>
          <a:xfrm>
            <a:off x="997527" y="1876301"/>
            <a:ext cx="8149441" cy="3002745"/>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1. Region</a:t>
            </a: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Filters the dashboard according to geographical region. </a:t>
            </a:r>
          </a:p>
          <a:p>
            <a:pPr>
              <a:lnSpc>
                <a:spcPct val="150000"/>
              </a:lnSpc>
              <a:buNone/>
            </a:pPr>
            <a:r>
              <a:rPr lang="en-IN" sz="1600" b="1" dirty="0">
                <a:latin typeface="Times New Roman" panose="02020603050405020304" pitchFamily="18" charset="0"/>
                <a:cs typeface="Times New Roman" panose="02020603050405020304" pitchFamily="18" charset="0"/>
              </a:rPr>
              <a:t>2. Product Category</a:t>
            </a: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Allows analysis of individual product categories. </a:t>
            </a:r>
          </a:p>
          <a:p>
            <a:pPr>
              <a:lnSpc>
                <a:spcPct val="150000"/>
              </a:lnSpc>
              <a:buNone/>
            </a:pPr>
            <a:r>
              <a:rPr lang="en-IN" sz="1600" b="1" dirty="0">
                <a:latin typeface="Times New Roman" panose="02020603050405020304" pitchFamily="18" charset="0"/>
                <a:cs typeface="Times New Roman" panose="02020603050405020304" pitchFamily="18" charset="0"/>
              </a:rPr>
              <a:t>3. Sales Channel</a:t>
            </a: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Filters sales based on the channel used. </a:t>
            </a:r>
          </a:p>
          <a:p>
            <a:pPr>
              <a:lnSpc>
                <a:spcPct val="150000"/>
              </a:lnSpc>
              <a:buNone/>
            </a:pPr>
            <a:r>
              <a:rPr lang="en-IN" sz="1600" b="1" dirty="0">
                <a:latin typeface="Times New Roman" panose="02020603050405020304" pitchFamily="18" charset="0"/>
                <a:cs typeface="Times New Roman" panose="02020603050405020304" pitchFamily="18" charset="0"/>
              </a:rPr>
              <a:t>4. Customer Type</a:t>
            </a: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Allows comparison between different customer types.</a:t>
            </a:r>
          </a:p>
        </p:txBody>
      </p:sp>
      <p:pic>
        <p:nvPicPr>
          <p:cNvPr id="9" name="Picture 8">
            <a:extLst>
              <a:ext uri="{FF2B5EF4-FFF2-40B4-BE49-F238E27FC236}">
                <a16:creationId xmlns:a16="http://schemas.microsoft.com/office/drawing/2014/main" id="{BCF3544F-0B8D-B000-3BBA-36C779C13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6463" y="178885"/>
            <a:ext cx="2553194" cy="6382232"/>
          </a:xfrm>
          <a:prstGeom prst="rect">
            <a:avLst/>
          </a:prstGeom>
        </p:spPr>
      </p:pic>
    </p:spTree>
    <p:extLst>
      <p:ext uri="{BB962C8B-B14F-4D97-AF65-F5344CB8AC3E}">
        <p14:creationId xmlns:p14="http://schemas.microsoft.com/office/powerpoint/2010/main" val="1570344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E659F-7251-9E7C-055E-B4C519B9BC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B65B70-5C2C-27A6-6274-7412440CA059}"/>
              </a:ext>
            </a:extLst>
          </p:cNvPr>
          <p:cNvSpPr txBox="1"/>
          <p:nvPr/>
        </p:nvSpPr>
        <p:spPr>
          <a:xfrm>
            <a:off x="427512" y="356260"/>
            <a:ext cx="8719456"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DASHBOARD DESIGN</a:t>
            </a:r>
          </a:p>
        </p:txBody>
      </p:sp>
      <p:sp>
        <p:nvSpPr>
          <p:cNvPr id="9" name="TextBox 8">
            <a:extLst>
              <a:ext uri="{FF2B5EF4-FFF2-40B4-BE49-F238E27FC236}">
                <a16:creationId xmlns:a16="http://schemas.microsoft.com/office/drawing/2014/main" id="{1978780A-49D0-F6B3-F4B6-F5A38B70B956}"/>
              </a:ext>
            </a:extLst>
          </p:cNvPr>
          <p:cNvSpPr txBox="1"/>
          <p:nvPr/>
        </p:nvSpPr>
        <p:spPr>
          <a:xfrm>
            <a:off x="641269" y="938151"/>
            <a:ext cx="85057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Dashboard Design &amp; Visualization Approach</a:t>
            </a:r>
          </a:p>
        </p:txBody>
      </p:sp>
      <p:sp>
        <p:nvSpPr>
          <p:cNvPr id="11" name="TextBox 10">
            <a:extLst>
              <a:ext uri="{FF2B5EF4-FFF2-40B4-BE49-F238E27FC236}">
                <a16:creationId xmlns:a16="http://schemas.microsoft.com/office/drawing/2014/main" id="{A91D51B8-8BC6-CAAC-60BE-16550E740A23}"/>
              </a:ext>
            </a:extLst>
          </p:cNvPr>
          <p:cNvSpPr txBox="1"/>
          <p:nvPr/>
        </p:nvSpPr>
        <p:spPr>
          <a:xfrm>
            <a:off x="1365662" y="1489264"/>
            <a:ext cx="7781306" cy="3372077"/>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Design principles followed:</a:t>
            </a: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Clean and minimal dashboard layout.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Light background for better readability.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Consistent blue gradient colour theme.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Separate visual sections for KPIs and charts.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Slicers positioned on the left for easy filtering.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Consistent font and formatting across visuals.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Limited colours to avoid unnecessary visual clutter.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Charts selected according to the type of information being analyzed.</a:t>
            </a:r>
          </a:p>
        </p:txBody>
      </p:sp>
    </p:spTree>
    <p:extLst>
      <p:ext uri="{BB962C8B-B14F-4D97-AF65-F5344CB8AC3E}">
        <p14:creationId xmlns:p14="http://schemas.microsoft.com/office/powerpoint/2010/main" val="1690801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AC84A-668A-E203-5DCA-EFCE7E5714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E0BE9C-70E8-8D54-104D-2A7C0D2D1B3F}"/>
              </a:ext>
            </a:extLst>
          </p:cNvPr>
          <p:cNvSpPr txBox="1"/>
          <p:nvPr/>
        </p:nvSpPr>
        <p:spPr>
          <a:xfrm>
            <a:off x="3301340" y="261257"/>
            <a:ext cx="5845628"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INSIGHTS &amp; CONCLUSION</a:t>
            </a:r>
          </a:p>
        </p:txBody>
      </p:sp>
      <p:sp>
        <p:nvSpPr>
          <p:cNvPr id="5" name="TextBox 4">
            <a:extLst>
              <a:ext uri="{FF2B5EF4-FFF2-40B4-BE49-F238E27FC236}">
                <a16:creationId xmlns:a16="http://schemas.microsoft.com/office/drawing/2014/main" id="{A86EE4D9-5F69-F3A2-FBCE-0A3523DA716C}"/>
              </a:ext>
            </a:extLst>
          </p:cNvPr>
          <p:cNvSpPr txBox="1"/>
          <p:nvPr/>
        </p:nvSpPr>
        <p:spPr>
          <a:xfrm>
            <a:off x="1009403" y="855023"/>
            <a:ext cx="8137565" cy="3279744"/>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Key Insights</a:t>
            </a:r>
          </a:p>
          <a:p>
            <a:pPr>
              <a:lnSpc>
                <a:spcPct val="150000"/>
              </a:lnSpc>
              <a:buNone/>
            </a:pPr>
            <a:r>
              <a:rPr lang="en-IN" sz="1600" dirty="0">
                <a:latin typeface="Times New Roman" panose="02020603050405020304" pitchFamily="18" charset="0"/>
                <a:cs typeface="Times New Roman" panose="02020603050405020304" pitchFamily="18" charset="0"/>
              </a:rPr>
              <a:t>From the dashboard, users can:</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Identify the strongest-performing product categories.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Analyze regional sales performance.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Identify high-performing sales representatives.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Understand profit contribution by sales representative.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Identify the most commonly used sales channels.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Analyze transaction preferences by payment method.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Compare customer types and regions using interactive slicers.</a:t>
            </a:r>
          </a:p>
        </p:txBody>
      </p:sp>
      <p:sp>
        <p:nvSpPr>
          <p:cNvPr id="7" name="TextBox 6">
            <a:extLst>
              <a:ext uri="{FF2B5EF4-FFF2-40B4-BE49-F238E27FC236}">
                <a16:creationId xmlns:a16="http://schemas.microsoft.com/office/drawing/2014/main" id="{86B4FE41-2008-E3B3-0E73-20632D024340}"/>
              </a:ext>
            </a:extLst>
          </p:cNvPr>
          <p:cNvSpPr txBox="1"/>
          <p:nvPr/>
        </p:nvSpPr>
        <p:spPr>
          <a:xfrm>
            <a:off x="1009403" y="4328423"/>
            <a:ext cx="8137565" cy="37823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Conclusion</a:t>
            </a:r>
          </a:p>
        </p:txBody>
      </p:sp>
      <p:sp>
        <p:nvSpPr>
          <p:cNvPr id="9" name="TextBox 8">
            <a:extLst>
              <a:ext uri="{FF2B5EF4-FFF2-40B4-BE49-F238E27FC236}">
                <a16:creationId xmlns:a16="http://schemas.microsoft.com/office/drawing/2014/main" id="{9A98A85D-A4AF-A8C0-AFA8-1399687EA1C7}"/>
              </a:ext>
            </a:extLst>
          </p:cNvPr>
          <p:cNvSpPr txBox="1"/>
          <p:nvPr/>
        </p:nvSpPr>
        <p:spPr>
          <a:xfrm>
            <a:off x="1505197" y="4706661"/>
            <a:ext cx="7971311" cy="159014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Task 3 dashboard successfully transformed sales data into an interactive business intelligence report. Power BI was used to create KPI cards, analytical charts and interactive slicers, enabling users to explore sales, profit, regional, customer and transaction performance efficiently</a:t>
            </a:r>
            <a:r>
              <a:rPr lang="en-IN" dirty="0"/>
              <a:t>.</a:t>
            </a:r>
          </a:p>
        </p:txBody>
      </p:sp>
    </p:spTree>
    <p:extLst>
      <p:ext uri="{BB962C8B-B14F-4D97-AF65-F5344CB8AC3E}">
        <p14:creationId xmlns:p14="http://schemas.microsoft.com/office/powerpoint/2010/main" val="7622277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2</TotalTime>
  <Words>552</Words>
  <Application>Microsoft Office PowerPoint</Application>
  <PresentationFormat>Widescreen</PresentationFormat>
  <Paragraphs>94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Times New Roman</vt:lpstr>
      <vt:lpstr>Wingdings</vt: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Monika V</dc:creator>
  <cp:lastModifiedBy>Monika V</cp:lastModifiedBy>
  <cp:revision>2</cp:revision>
  <dcterms:created xsi:type="dcterms:W3CDTF">2026-08-14T06:34:03Z</dcterms:created>
  <dcterms:modified xsi:type="dcterms:W3CDTF">2026-08-14T06:36:11Z</dcterms:modified>
</cp:coreProperties>
</file>